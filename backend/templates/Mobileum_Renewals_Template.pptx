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79" r:id="rId30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 snapToObjects="1">
      <p:cViewPr>
        <p:scale>
          <a:sx n="88" d="100"/>
          <a:sy n="88" d="100"/>
        </p:scale>
        <p:origin x="26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rgbClr val="00A3A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Approved</c:v>
                </c:pt>
                <c:pt idx="1">
                  <c:v>Approved - 2nd</c:v>
                </c:pt>
                <c:pt idx="2">
                  <c:v>Pending-Approval</c:v>
                </c:pt>
                <c:pt idx="3">
                  <c:v>Blank</c:v>
                </c:pt>
                <c:pt idx="4">
                  <c:v>Rejected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748</c:v>
                </c:pt>
                <c:pt idx="1">
                  <c:v>877</c:v>
                </c:pt>
                <c:pt idx="2">
                  <c:v>31</c:v>
                </c:pt>
                <c:pt idx="3">
                  <c:v>1411</c:v>
                </c:pt>
                <c:pt idx="4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24-42E0-B06D-2B3B33053C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80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DAILY: change the date on this slide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Copy the pivot from Excel (Expiry Q3 Summary) and paste over the table with Keep Source Formatting, or type over the numbers. The 3 cards on the right are just the Grand Total row: Today Amount + Count, T-Y, T-LW. No commentary needed - the coloured cells show what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1) Table: type the counts and ACV per status from sheet ApprovalStatus_Summary (ACV in $M). 2) Chart: right-click &gt; Edit Data &gt; type the 5 counts. 3) Today's changes box: count rows in ApprovalStatusChanges by New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sheets TodayForecastSummary (left table) and ForecastMovementSummary (right table). Paste values over the existing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ACVChanges. Sort by size of change, paste the top 10 (Opportunity, Old ACV, New ACV, 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North America).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West Europe).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Middle East).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AFRICA).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SEAO).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South America).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NASA).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East Europe).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 10 Region Summary" (filter Sub-Region = NAMR GUAVUS). Keep 10 rows; overwrite the text. Clear unused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North America).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West Europe).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Middle East).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AFRICA).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SEAO).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South America).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NASA).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East Europe).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UPDATE: Source sheet "Top10_Region_BU" (Sub-Region = NAMR GUAVUS). Keep 10 rows; overwrite the text. Clear unused rows. Update the Business Unit column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 line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ooter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Mobileum  |  Confidential</a:t>
            </a:r>
          </a:p>
        </p:txBody>
      </p:sp>
      <p:pic>
        <p:nvPicPr>
          <p:cNvPr id="120" name="Mobileum logo" descr="adb691d9-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5680" y="109728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Mobileum logo" descr="adb691d9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0"/>
            <a:ext cx="347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srgbClr val="12284C"/>
                </a:solidFill>
                <a:latin typeface="Calibri"/>
              </a:rPr>
              <a:t>M</a:t>
            </a:r>
            <a:r>
              <a:rPr sz="3000" b="1" dirty="0" err="1">
                <a:solidFill>
                  <a:srgbClr val="12284C"/>
                </a:solidFill>
                <a:latin typeface="Calibri"/>
              </a:rPr>
              <a:t>obileum</a:t>
            </a:r>
            <a:endParaRPr sz="3000" b="1" dirty="0">
              <a:solidFill>
                <a:srgbClr val="12284C"/>
              </a:solidFill>
              <a:latin typeface="Calibri"/>
            </a:endParaRPr>
          </a:p>
        </p:txBody>
      </p:sp>
      <p:sp>
        <p:nvSpPr>
          <p:cNvPr id="6" name="Cover title"/>
          <p:cNvSpPr txBox="1"/>
          <p:nvPr/>
        </p:nvSpPr>
        <p:spPr>
          <a:xfrm>
            <a:off x="5486400" y="210312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Renewals Daily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4290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FE9EC"/>
                </a:solidFill>
                <a:latin typeface="Calibri"/>
              </a:rPr>
              <a:t>Expiry, approvals and top opportunities by region</a:t>
            </a:r>
          </a:p>
        </p:txBody>
      </p:sp>
      <p:sp>
        <p:nvSpPr>
          <p:cNvPr id="8" name="Cover date"/>
          <p:cNvSpPr txBox="1"/>
          <p:nvPr/>
        </p:nvSpPr>
        <p:spPr>
          <a:xfrm>
            <a:off x="5486400" y="42062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Data as of 05-Oct-2026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217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FBFBF"/>
                </a:solidFill>
                <a:latin typeface="Calibri"/>
              </a:rPr>
              <a:t>Mobileum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Renewals Summary – Expiry Q3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T-Y = Today vs Yesterday,  T-LW = Today vs Last Week</a:t>
            </a:r>
          </a:p>
        </p:txBody>
      </p:sp>
      <p:graphicFrame>
        <p:nvGraphicFramePr>
          <p:cNvPr id="4" name="Expiry pivot table"/>
          <p:cNvGraphicFramePr>
            <a:graphicFrameLocks noGrp="1"/>
          </p:cNvGraphicFramePr>
          <p:nvPr/>
        </p:nvGraphicFramePr>
        <p:xfrm>
          <a:off x="457200" y="1261872"/>
          <a:ext cx="8001000" cy="49789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Service Expiry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Forecast Category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Today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Today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T-Y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T-Y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T-LW Amount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T-LW Count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Q1-2026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24,945,874.66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266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-45,192.76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-70,298.95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23,654,888.17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96,509.24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71,403.05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324,817.50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-141,702.00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-141,702.00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901,175.99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64,993.00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Q1-2027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3,289,137.52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89,831.10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719,306.42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2,480,000.00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Q2-2026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20,973,514.23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257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195,162.17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236,200.89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19,110,835.05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4,705.23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725,694.22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195,162.17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231,495.66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715,367.22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421,617.74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Q2-2027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434,901.89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363,422.31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434,901.89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363,422.31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Q3-2026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18,132,885.71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293,873.87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-147,638.36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14,377,775.90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3,570,305.51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4,522,141.70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2,503,559.29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-3,276,431.64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-4,311,836.88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735,440.52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-357,943.18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516,110.00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Q3-2027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56,284.56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67.36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56,217.20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Q4-2026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52,675,598.94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427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594,314.29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1,287,902.09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5,958,891.65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997,074.43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3,266,162.73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29,912,302.59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-828,582.14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-3,492,699.64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15,372,888.47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425,822.00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1,464,701.38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1,431,516.23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49,737.62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Q4-2027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262626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120,511,647.51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1167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1,038,157.57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1,669,591.48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9144" marB="9144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5" name="KPI card"/>
          <p:cNvSpPr/>
          <p:nvPr/>
        </p:nvSpPr>
        <p:spPr>
          <a:xfrm>
            <a:off x="9098280" y="12618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595959"/>
                </a:solidFill>
                <a:latin typeface="Calibri"/>
              </a:rPr>
              <a:t>Total ACV (Today)</a:t>
            </a:r>
          </a:p>
          <a:p>
            <a:pPr algn="ctr"/>
            <a:r>
              <a:rPr sz="2200" b="1" dirty="0">
                <a:solidFill>
                  <a:srgbClr val="12284C"/>
                </a:solidFill>
                <a:latin typeface="Calibri"/>
              </a:rPr>
              <a:t>$120.51M  |  1,167</a:t>
            </a:r>
          </a:p>
        </p:txBody>
      </p:sp>
      <p:sp>
        <p:nvSpPr>
          <p:cNvPr id="6" name="KPI card"/>
          <p:cNvSpPr/>
          <p:nvPr/>
        </p:nvSpPr>
        <p:spPr>
          <a:xfrm>
            <a:off x="9098280" y="249631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595959"/>
                </a:solidFill>
                <a:latin typeface="Calibri"/>
              </a:rPr>
              <a:t>vs Yesterday</a:t>
            </a:r>
          </a:p>
          <a:p>
            <a:pPr algn="ctr"/>
            <a:r>
              <a:rPr sz="2200" b="1" dirty="0">
                <a:solidFill>
                  <a:srgbClr val="12284C"/>
                </a:solidFill>
                <a:latin typeface="Calibri"/>
              </a:rPr>
              <a:t>+$1.04M  |  +5</a:t>
            </a:r>
          </a:p>
        </p:txBody>
      </p:sp>
      <p:sp>
        <p:nvSpPr>
          <p:cNvPr id="7" name="KPI card"/>
          <p:cNvSpPr/>
          <p:nvPr/>
        </p:nvSpPr>
        <p:spPr>
          <a:xfrm>
            <a:off x="9098280" y="373075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vs Last Week</a:t>
            </a:r>
          </a:p>
          <a:p>
            <a:pPr algn="ctr"/>
            <a:r>
              <a:rPr sz="2200" b="1">
                <a:solidFill>
                  <a:srgbClr val="12284C"/>
                </a:solidFill>
                <a:latin typeface="Calibri"/>
              </a:rPr>
              <a:t>+$1.67M  |  +21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4937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Green = increase, orange = decrease. Look at the coloured cells for what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Opportunity Approval Status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</a:t>
            </a:r>
          </a:p>
        </p:txBody>
      </p:sp>
      <p:graphicFrame>
        <p:nvGraphicFramePr>
          <p:cNvPr id="4" name="Approval status table"/>
          <p:cNvGraphicFramePr>
            <a:graphicFrameLocks noGrp="1"/>
          </p:cNvGraphicFramePr>
          <p:nvPr/>
        </p:nvGraphicFramePr>
        <p:xfrm>
          <a:off x="457200" y="1371600"/>
          <a:ext cx="1078992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Approved - 2nd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Pending-Approval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Blank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Opportunities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3,086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748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877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1,411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$450.04M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$95.79M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$86.98M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$11.00M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$246.46M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284C"/>
                          </a:solidFill>
                          <a:latin typeface="Calibri"/>
                        </a:rPr>
                        <a:t>$9.81M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Approval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199430"/>
              </p:ext>
            </p:extLst>
          </p:nvPr>
        </p:nvGraphicFramePr>
        <p:xfrm>
          <a:off x="457200" y="2971800"/>
          <a:ext cx="7132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Key points (edit daily)"/>
          <p:cNvSpPr/>
          <p:nvPr/>
        </p:nvSpPr>
        <p:spPr>
          <a:xfrm>
            <a:off x="7955279" y="2971800"/>
            <a:ext cx="3749039" cy="2377440"/>
          </a:xfrm>
          <a:prstGeom prst="rect">
            <a:avLst/>
          </a:prstGeom>
          <a:solidFill>
            <a:srgbClr val="E6F4F5"/>
          </a:solidFill>
          <a:ln w="12700">
            <a:solidFill>
              <a:srgbClr val="00A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400" b="1">
                <a:solidFill>
                  <a:srgbClr val="12284C"/>
                </a:solidFill>
                <a:latin typeface="Calibri"/>
              </a:rPr>
              <a:t>Today's changes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approved:  9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pending approval:  5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Newly rejected: 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Forecast Category: Today vs Yesterday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</a:t>
            </a:r>
          </a:p>
        </p:txBody>
      </p:sp>
      <p:graphicFrame>
        <p:nvGraphicFramePr>
          <p:cNvPr id="4" name="Forecast category table"/>
          <p:cNvGraphicFramePr>
            <a:graphicFrameLocks noGrp="1"/>
          </p:cNvGraphicFramePr>
          <p:nvPr/>
        </p:nvGraphicFramePr>
        <p:xfrm>
          <a:off x="457200" y="1371600"/>
          <a:ext cx="6629400" cy="3520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Forecast Category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Today Count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Today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Yesterday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 Δ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ACV Δ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1245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124,716,888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118,137,589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+29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+6,579,298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62,209,348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67,860,367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-5,651,020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547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129,321,882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127,778,046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+1,543,837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92,623,466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93,348,085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-724,618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41,168,666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39,845,544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+1,323,122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3086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450,040,251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446,969,631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+4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+3,070,620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92D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Forecast movement table"/>
          <p:cNvGraphicFramePr>
            <a:graphicFrameLocks noGrp="1"/>
          </p:cNvGraphicFramePr>
          <p:nvPr/>
        </p:nvGraphicFramePr>
        <p:xfrm>
          <a:off x="7589520" y="1371600"/>
          <a:ext cx="402336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Forecast movement (yesterday → today)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 → Closed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Best Case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Commit → (Blank)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Blank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Blank → Best Case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Pipeline → Commit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Forecast ACV Changes vs Yesterday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</a:t>
            </a:r>
          </a:p>
        </p:txBody>
      </p:sp>
      <p:graphicFrame>
        <p:nvGraphicFramePr>
          <p:cNvPr id="4" name="ACV change table"/>
          <p:cNvGraphicFramePr>
            <a:graphicFrameLocks noGrp="1"/>
          </p:cNvGraphicFramePr>
          <p:nvPr/>
        </p:nvGraphicFramePr>
        <p:xfrm>
          <a:off x="457200" y="1371600"/>
          <a:ext cx="1106424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Opportunity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Old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New ACV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0A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1,200,000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3,500,000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NI_Tsel_Indo_Superapps Renewal Msight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515,525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iCampaign Annual Subscription 2026-27 second half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145,837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MB_Kyivstar_AMC Renewal_Roaming_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89,393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161,086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Maroc Telecom SITE Ookla NEW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112,936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44,490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Tele2 - GTPP migration to Infra2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79,854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28,519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EI-WW-Syniverse-Support 01Jul2026-30Sep26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94,326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Optus - Roaming - OS Security Patch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24,647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67,563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Telia - new RR redundancy for MVNO HW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57,039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92,883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Increase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GL188 - Y2 renewal - HW and SW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134,223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2284C"/>
                          </a:solidFill>
                          <a:latin typeface="Calibri"/>
                        </a:rPr>
                        <a:t>105,726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Decrease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North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North America total: $79.89M across 328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006Qp00000as0WCIAY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and License renewal  - RNS  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4,968,375.00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006Qp00000SahvxIAB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RoamingDNA Network, Business and IOT analytics -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4,266,000.00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006Qp00000TtPWXIA3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5G SA  Roam Usage Manager (RUM) and Captive Portal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3,840,000.00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006Qp00000KXroQIAT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License renewal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2,530,000.00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006Qp00000m8JrRIAU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Lab Automation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006Qp00000eejCHIAY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2,380,000.00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006Qp00000lnDAjIAM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RGW and RVAS Platform Capability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006Qp00000cXxprIAC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SMS and MMS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006Qp00000i7Lw1IAE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Roaming Gateway - CNF with N+K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1,950,000.00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006Qp00000eV7mAIAS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DS-AT&amp;T--dsTest-Release 6,8 and 6,9 - SW_2027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1,820,000.00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28,454,375.00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West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West Europe total: $77.95M across 912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006Qp00000kgHhuIAE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 RR platform replacement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4,563,084.65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006Qp00000iZEy2IAG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Fibercop Piattaforma antifrode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1,236,253.71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006Qp00000lPJJqIAO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NIO_Lebara UK_DNA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1,058,352.54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0061K00000liGPpQAM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Extensão suporte aplicacional MS 2026-27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837,126.09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006Qp00000LaTVdIAN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Signalling FW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741,501.25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006Qp00000V1K4TIAV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RR MS Consultation 2026_2027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681,968.77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006Qp00000UiheIIAR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DNS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628,092.56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006Qp00000LQBVCIA5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MB_EE UK_iCampaign V2 Upgrade and Migration to new 2 Site Architecture VM infra inc. 5 Years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618,518.46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006Qp00000hZzpRIAS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TEF DE - RFP Signalling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0061K00000jfW29QAE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Telenor Sweden - Replacement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11,505,669.19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Middle East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Middle East total: $74.34M across 374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006Qp00000jDqtJIAS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Mobilis - CEM RFP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13,800,000.00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006Qp00000a8Y4cIAE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Mobily RFP RDNA and Customer Journey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4,269,368.55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0061K00000glFupQAE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(UAE) - Airlinq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006Qp00000jDxBdIAK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STC KSA Fraud Cloudification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1,635,000.00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006Qp000005XGuLIAW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du - Collections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1,524,807.52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006Qp00000knmiXIAQ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CEM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0061K00000lhw8rQAA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Batelco Mobile CEM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0061K00000h9oWmQAI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Zain Roaming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1,280,000.00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006Qp00000WDHrsIAH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MB_STC_Baud_Roaming_AMC Renewal_May2026-April2027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1,163,014.27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006Qp00000DOaqrIAD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- Roaming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29,272,190.34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AFRICA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AFRICA total: $71.67M across 390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0061K00000lgzEgQAI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CAK - Tax Assurance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0061K00000maOfkQAE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NCC Nigeria Digital Media RA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3,999,954.00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006Qp00000gLPhZIAW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006Qp00000SnZ7lIAF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Safaricom Kenya and Ethiopia Revenue assurance RFP 2025-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3,422,797.00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006Qp00000X71pCIAR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WD_CRM Managed Services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2,868,427.43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006Qp00000A70n7IAB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Alghanim (RURA Rwanda Regulator) - QoS_QoE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2,576,397.12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006Qp000005fWDxIAM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SD_Trafic Monitoring_INACOM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1,863,975.59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006Qp00000Z8KtRIAV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Digital Acceleration Project- Big Data Platform - Phase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1,629,288.00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006Qp00000UXlBoIAL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Quality of Service for Angola regulator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1,620,854.00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006Qp00000itvPKIAY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Airtel Africa - DNA Zambia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1,455,332.00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26,937,025.14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SEAO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SEAO total: $48.96M across 338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006Qp00000aofsrIAA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E000 Nomadics extension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1,672,867.34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006Qp00000jLoHiIAK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Singtel - EnE - SLBB 2026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1,468,088.39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006Qp00000kyf4DIAQ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Telkomsel MBB FBB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006Qp00000jM2UIIA0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Singtel - EnE - SLMB 2026 Capacity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1,390,820.58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006Qp00000asS7RIAU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TPG - Roaming Platform Managed Service - 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858,986.59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006Qp00000VzzpdIAB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NI_Telkomsel_FBB_Nstore_2026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006Qp00000aDoS5IAK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NI_SG Gov_HSME S&amp;M_YR 7-26_27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734,044.20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006Qp00000SYBx0IAH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SD_MWC25_RAID 9_ Smart Axiata Cambodia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006Qp00000lJCnBIAW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XLSMART_VoiceFirewall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006Qp00000f8egbIAA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MB_Globe_GTPFW_2026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637,697.00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10,312,504.10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South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South America total: $35.06M across 276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006Qp00000Yx1voIAB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- PO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1,032,629.03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0061K00000jxaAsQAI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AT&amp;T-Niometrics 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0061K00000maKGyQAM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Regional Signalling Firewall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006Qp00000DAzYzIAL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Bolwar_ICE CR_E&amp;E_DNA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006Qp00000D3GjuIAF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_ PO 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806,820.68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006Qp00000PCNgnIAH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Group DNA for Fix Line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006Qp00000U14EnIAJ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CH-PR_RAID 9 GenAI RA &amp; FMS - Modernization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006Qp00000ZxjhhIAB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Argentina - Roaming Solutions 2027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799,000.00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0061K00000kK8l5QAC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Claro CENAM Niometrics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006Qp000005sHCIIA2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AMERICA MOVIL SITE, IRTA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8,338,449.71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NASA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NASA total: $34.51M across 170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006Qp00000OkzXKIAZ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NTT Docomo SecurityFW_International and MVNO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006Qp00000bOh4vIAC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Big CR Supporting for Discontinue Old Roaming Service " Overseas Unlimited Packet" &amp; Defaluting Anshin-Teigaku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2,052,319.40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006Qp00000afSEvIAM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SD_WAS_22 - CUG - SoR migrate CU Mainland platform (+GTP Proxy)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006Qp00000Lcsw9IAB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EoSL Extension and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006Qp00000fyHUbIAM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SB OSFR License Upgrade from 200k to 300k sub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1,023,209.87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006Qp00000krDB7IAM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Optage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006Qp00000c2YB0IAM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CMI - Roaming Quality &amp; Analytics to support Big Data Team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0061K00000iGWbBQAW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Docomo GRP Roaming Platform Renewal 2027 OPEX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006Qp00000bZREaIAO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TWM - CIB IPDR &amp; OTT (DNA) - for FBB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976,900.80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006Qp000006aE4FIAU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PCCW - Nio Hardware Refresh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830,693.20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15,383,123.27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East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East Europe total: $19.14M across 292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0061K00000fl1ntQAA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RA &amp; FMS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912,616.93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0061K00000mCmFxQAK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Kyivstar SiC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578,238.65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006Qp00000eTXMXIA4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Cosmote Greece (through Cognity) - RA and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006Qp00000XMdsgIAD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Roaming setup upgrade and Geo-Redundancy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513,981.00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006Qp00000NiYK7IAN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Viva Armenia RA&amp;FM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006Qp00000HMCf3IAH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Cellfie Georgia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420,000.00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006Qp00000TaCd6IAF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Azerconnect - GTP Proxy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006Qp00000bdSwsIAE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PPC Greece RFP - Fraud and RA through Cognity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394,428.64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0061K00000lBb9LQAS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Kyivstar NTR-RFI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376,557.00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006Qp00000gRreLIAS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SD_MWC26_5G Firewall_NATO CCDCOE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342,231.35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5,008,439.15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Opportunities – NAMR GUAVUS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NAMR GUAVUS total: $8.53M across 6 opportunities</a:t>
            </a:r>
          </a:p>
        </p:txBody>
      </p:sp>
      <p:graphicFrame>
        <p:nvGraphicFramePr>
          <p:cNvPr id="4" name="Top 10 table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006Qp00000fhmwGIAQ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EBM EDR/FDR – Edge Collector for Event Data -Software and Support and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5,435,136.00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006Qp00000asPmIIAU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Managed Services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1,545,000.00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006Qp00000asS94IAE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S&amp;M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870,000.00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006Qp00000bPZtJIAW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 Verizon 2027 Annual Maintenance &amp; Managed Services for SLIP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435,110.00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006Qp00000k9yP4IAI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CR FLS Query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137,500.00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006Qp00000fi1YfIAI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UDR 5G KPI's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105,450.00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8,528,196.00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10515600" cy="59436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2284C"/>
                </a:solidFill>
                <a:latin typeface="Calibri"/>
              </a:rPr>
              <a:t>Business Unit – Opportunities &amp; Approval Status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95959"/>
                </a:solidFill>
                <a:latin typeface="Calibri"/>
              </a:rPr>
              <a:t>Data as of 05-Oct-2026   |   Count of opportunities by Business Unit; Blank = no approval status yet</a:t>
            </a:r>
          </a:p>
        </p:txBody>
      </p:sp>
      <p:graphicFrame>
        <p:nvGraphicFramePr>
          <p:cNvPr id="4" name="BU approval table"/>
          <p:cNvGraphicFramePr>
            <a:graphicFrameLocks noGrp="1"/>
          </p:cNvGraphicFramePr>
          <p:nvPr/>
        </p:nvGraphicFramePr>
        <p:xfrm>
          <a:off x="457200" y="1325880"/>
          <a:ext cx="11155680" cy="4937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66160"/>
                <a:gridCol w="1234440"/>
                <a:gridCol w="1234440"/>
                <a:gridCol w="1417320"/>
                <a:gridCol w="160020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Opps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Approved - 2nd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E7B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Pending-Approval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0A1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Blank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Risk;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749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Security;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Risk;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Roaming;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1,135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3EB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3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3,086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748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E7B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0A1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1,411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North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North America – Roaming; Security: $12.93M across 7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006Qp00000as0WCIAY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Manage Services and License renewal  - RNS  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4,968,375.00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006Qp00000KXroQIAT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Verizon_AMC, Onsite License renewal - RNS _2026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2,530,000.00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006Qp00000m8JrRIAU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Lab Automation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006Qp00000jtGmzIAE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RGW IoT-M2M Service Enablement and Security updates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1,090,000.00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006Qp00000m8LJlIAM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GIF and PCEF Expansion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006Qp00000f0K3xIAE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Technical proposal for Passive firewall - T-Mobile USA SFDC Request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006Qp00000c3LA5IAM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- Signaling Security SSP and RGW IRDB DB - Roaming Audit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337,000.00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12,925,375.00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West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West Europe – Roaming: $26.11M across 196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006Qp00000kgHhuIAE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 RR platform replacement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4,563,084.65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006Qp00000V1K4TIAV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RR MS Consultation 2026_2027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681,968.77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006Qp00000UiheIIAR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OFR_ DNS CR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628,092.56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006Qp00000LQBVCIA5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MB_EE UK_iCampaign V2 Upgrade and Migration to new 2 Site Architecture VM infra inc. 5 Years AMC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618,518.46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006Qp00000asS0zIAE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MB_Telia AMC Renewal_Roaming_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538,546.66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006Qp00000asTl4IAE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MB_Orange France_AMC Renewal_RR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452,415.01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006Qp00000gIvIzIAK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Adorra Telecom NTR (SD_MWC26)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399,269.91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006Qp00000hzsqjIAA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TdE on SoR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398,993.84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006Qp00000jRPa1IAG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Telia - AI assistant and Automation for NTR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372,461.78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Roaming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0061K00000lh50dQAA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Telia - iCampaign 2.0 upg and 2-site migration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366,006.41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9,019,358.05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Middle East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Middle East – Engagement and Experience: $21.16M across 22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006Qp00000jDqtJIAS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Mobilis - CEM RFP 2026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13,800,000.00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0061K00000lhw8rQAA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Batelco Mobile CEM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006Qp00000DOaqrIAD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Etisalat Egypt - Roaming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006Qp00000hzJeTIAU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Algerie Telecom FBB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0061K00000iiizSQAQ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SUDATEL DNA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006Qp00000LfgbuIAB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STC KSA SIP Probe Expansion for RAID FM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006Qp00000gntSzIAI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SOFRECOM Otarie Feed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006Qp00000gL8YhIAK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TPRA Sudan Phase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675,694.00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006Qp00000gXzanIAC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SD_MWC26_Roaming DNA_Orange Tunisia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0061K00000kbwjSQAQ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Sudan TPRA - DNA Relaunch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20,175,694.00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AFRICA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AFRICA – Risk: $34.79M across 144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0061K00000lgzEgQAI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CAK - Tax Assurance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006Qp00000gLPhZIAW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TELCO RAFM Solution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006Qp00000SnZ7lIAF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Safaricom Kenya and Ethiopia Revenue assurance RFP 2025-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3,422,797.00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006Qp00000X71pCIAR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WD_CRM Managed Services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2,868,427.43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006Qp000005fWDxIAM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SD_Trafic Monitoring_INACOM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1,863,975.59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006Qp00000OyVKsIAN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Orange Sonatel RAFM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1,368,925.39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006Qp000002F45QIAS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TRafic Mnitoring and Tax control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1,164,749.03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006Qp00000hzGOrIAM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AML Opportunity for Ethio telecom - Tele Birr Mobile Money Platform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1,132,871.00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006Qp00000abvqdIAA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SD_Risk Management_Risk Catalogue_e-Mola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888,787.00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006Qp00000ENYSNIA5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Orange Group - RAFM (RFP) 2nd Year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838,572.62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21,049,105.06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SEAO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SEAO – Testing: $8.13M across 107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006Qp00000aofsrIAA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E000 Nomadics extension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1,672,867.34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006Qp00000m6V2IIAU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NBN testing + dual core 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006Qp00000mrNCXIA2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Optus - NBN E000 + Core Probes Resiliency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482,592.21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006Qp00000aoYrPIAU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TPG - E000 SITE Upgrade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437,605.00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006Qp00000Ek3pFIAR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Indosat - SITE upgrade (5G, VoLTE, CLUs_WLUs)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006Qp00000VC9s8IAD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Spark NZ - LCM Automation solution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006Qp00000ZresrIAB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Viettel Group _ Global Roamer 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265,000.00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006Qp00000fgmOnIAI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MB_Singtel_EmergencyCallTesting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251,128.41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006Qp00000SZ3ffIAD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SG_UNN Brunei - GR FLP 12 Months 2026-2027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219,981.22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006Qp00000asQ43IAE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MB_Optus Australia - (SITE) MA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216,279.44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4,745,453.62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South America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South America – Risk: $8.90M across 68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006Qp00000Yx1voIAB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- PO 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1,032,629.03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006Qp00000D3GjuIAF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RAID Modules - RA Transformation _ PO 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806,820.68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006Qp00000U14EnIAJ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CH-PR_RAID 9 GenAI RA &amp; FMS - Modernization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0061K00000mCEhQQAW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RAID 9 - GENAI - AMX - Claro Brasil - RAID RQUAL Ressarcimento_Refund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386,309.20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006Qp00000fzbSrIAI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PR_RISK_ RAID 9_SFM_Devoluciones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006Qp00000mclzxIAA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Brazil - Fixed &amp; Mobile Interconnect Transformation (ITX)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289,731.90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006Qp00000QBK1FIAX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AMX - Claro Brasil - CR Search -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257,858.57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006Qp00000iwlI9IAI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ENTEL CH_RISK_RAID Incentives Management RFP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006Qp00000YLt9CIAT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Telecom Argentina RAID.FMS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006Qp00000LwTgfIAF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Telefonica El Salvador RAID Search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4,573,349.38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NASA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NASA – Risk; Roaming; Security: $4.00M across 1 opportunity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Risk; Roaming; Security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006Qp00000OkzXKIAZ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NTT Docomo SecurityFW_International and MVNO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4,000,000.00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East Europe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East Europe – Risk: $6.60M across 85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0061K00000fl1ntQAA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Azercell RA &amp; FMS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912,616.93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006Qp00000eTXMXIA4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Cosmote Greece (through Cognity) - RA and FMS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570,385.58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006Qp00000NiYK7IAN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Viva Armenia RA&amp;FM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006Qp00000bdSwsIAE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PPC Greece RFP - Fraud and RA through Cognity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394,428.64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0061K00000gaXPjQAM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Upgrade to RAID 8 or RAID 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340,018.25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006Qp00000hlGWoIAM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Vodafone Turkey - RAID Fraud RFI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285,192.79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006Qp00000VCjQzIAL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Azerconnect RAID 9 migration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006Qp00000b6bCTIAY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RAID RA - Configuration to support the migration from Surepay to NCC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188,226.69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006Qp00000ScfurIAB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SG_Telekom Serbia_SBD Renewal_01-Mar-26 - 28-Feb-27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140,878.15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006Qp00000SZTi9IAH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MB_Vodafone TR RAID M&amp;S Renewal 26_27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114,877.91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3,646,624.94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9144000" cy="594360"/>
          </a:xfrm>
        </p:spPr>
        <p:txBody>
          <a:bodyPr anchor="ctr"/>
          <a:lstStyle/>
          <a:p>
            <a:pPr algn="l"/>
            <a:r>
              <a:rPr sz="2400" b="1">
                <a:solidFill>
                  <a:srgbClr val="12284C"/>
                </a:solidFill>
                <a:latin typeface="Calibri"/>
              </a:rPr>
              <a:t>Top 10 by Business Unit – NAMR GUAVUS</a:t>
            </a:r>
          </a:p>
        </p:txBody>
      </p:sp>
      <p:sp>
        <p:nvSpPr>
          <p:cNvPr id="3" name="Data as of"/>
          <p:cNvSpPr txBox="1"/>
          <p:nvPr/>
        </p:nvSpPr>
        <p:spPr>
          <a:xfrm>
            <a:off x="457200" y="932688"/>
            <a:ext cx="11247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Data as of 05-Oct-2026   |   NAMR GUAVUS – Engagement and Experience: $8.53M across 6 opportunities</a:t>
            </a:r>
          </a:p>
        </p:txBody>
      </p:sp>
      <p:graphicFrame>
        <p:nvGraphicFramePr>
          <p:cNvPr id="4" name="Top 10 by BU table"/>
          <p:cNvGraphicFramePr>
            <a:graphicFrameLocks noGrp="1"/>
          </p:cNvGraphicFramePr>
          <p:nvPr/>
        </p:nvGraphicFramePr>
        <p:xfrm>
          <a:off x="457200" y="1325880"/>
          <a:ext cx="1115568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Business Unit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ID (18 digit)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Opportunity Name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ACV (USD)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006Qp00000fhmwGIAQ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EBM EDR/FDR – Edge Collector for Event Data -Software and Support and Maintenance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5,435,136.00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006Qp00000asPmIIAU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Managed Services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1,545,000.00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006Qp00000asS94IAE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Guavus_Verizon_ S&amp;M _01_01_2027 - 31_12_2027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870,000.00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006Qp00000bPZtJIAW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Guavus Verizon 2027 Annual Maintenance &amp; Managed Services for SLIP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435,110.00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006Qp00000k9yP4IAI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CR FLS Query Enhancements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137,500.00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Engagement and Experience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006Qp00000fi1YfIAI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Verizon Guavus PP UDR 5G KPI's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105,450.00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8,528,196.00</a:t>
                      </a:r>
                    </a:p>
                  </a:txBody>
                  <a:tcPr marL="54864" marR="54864" marT="9144" marB="9144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4203</Words>
  <Application>Microsoft Office PowerPoint</Application>
  <PresentationFormat>Widescreen</PresentationFormat>
  <Paragraphs>1459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Renewals Summary – Expiry Q3</vt:lpstr>
      <vt:lpstr>Opportunity Approval Status</vt:lpstr>
      <vt:lpstr>Forecast Category: Today vs Yesterday</vt:lpstr>
      <vt:lpstr>Top 10 Forecast ACV Changes vs Yesterday</vt:lpstr>
      <vt:lpstr>Top 10 Opportunities – North America</vt:lpstr>
      <vt:lpstr>Top 10 Opportunities – West Europe</vt:lpstr>
      <vt:lpstr>Top 10 Opportunities – Middle East</vt:lpstr>
      <vt:lpstr>Top 10 Opportunities – AFRICA</vt:lpstr>
      <vt:lpstr>Top 10 Opportunities – SEAO</vt:lpstr>
      <vt:lpstr>Top 10 Opportunities – South America</vt:lpstr>
      <vt:lpstr>Top 10 Opportunities – NASA</vt:lpstr>
      <vt:lpstr>Top 10 Opportunities – East Europe</vt:lpstr>
      <vt:lpstr>Top 10 Opportunities – NAMR GUAVUS</vt:lpstr>
      <vt:lpstr>Top 10 by Business Unit – North America</vt:lpstr>
      <vt:lpstr>Top 10 by Business Unit – West Europe</vt:lpstr>
      <vt:lpstr>Top 10 by Business Unit – Middle East</vt:lpstr>
      <vt:lpstr>Top 10 by Business Unit – AFRICA</vt:lpstr>
      <vt:lpstr>Top 10 by Business Unit – SEAO</vt:lpstr>
      <vt:lpstr>Top 10 by Business Unit – South America</vt:lpstr>
      <vt:lpstr>Top 10 by Business Unit – NASA</vt:lpstr>
      <vt:lpstr>Top 10 by Business Unit – East Europe</vt:lpstr>
      <vt:lpstr>Top 10 by Business Unit – NAMR GUAVUS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Rishitha T</cp:lastModifiedBy>
  <cp:revision>4</cp:revision>
  <dcterms:created xsi:type="dcterms:W3CDTF">2013-01-27T09:14:16Z</dcterms:created>
  <dcterms:modified xsi:type="dcterms:W3CDTF">2026-10-05T11:08:35Z</dcterms:modified>
  <cp:category/>
</cp:coreProperties>
</file>